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8/23/2026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8/23/2026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https://github.com/Pranav-3003/Assignment/tree/main/Project1"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96000" y="4524555"/>
            <a:ext cx="3400089" cy="861497"/>
          </a:xfrm>
        </p:spPr>
        <p:txBody>
          <a:bodyPr/>
          <a:lstStyle/>
          <a:p>
            <a:pPr algn="r"/>
            <a:r>
              <a:rPr sz="2600" b="1" dirty="0">
                <a:solidFill>
                  <a:schemeClr val="tx1"/>
                </a:solidFill>
              </a:rPr>
              <a:t>Pranav Shelke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932403"/>
            <a:ext cx="8209477" cy="993193"/>
          </a:xfrm>
        </p:spPr>
        <p:txBody>
          <a:bodyPr>
            <a:noAutofit/>
          </a:bodyPr>
          <a:lstStyle/>
          <a:p>
            <a:r>
              <a:rPr sz="4000" b="1" dirty="0"/>
              <a:t>Airbnb Hotel Booking Analysis</a:t>
            </a:r>
            <a:endParaRPr lang="en-IN" sz="40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783682"/>
            <a:ext cx="6995604" cy="790111"/>
          </a:xfrm>
        </p:spPr>
        <p:txBody>
          <a:bodyPr>
            <a:normAutofit/>
          </a:bodyPr>
          <a:lstStyle/>
          <a:p>
            <a:r>
              <a:rPr lang="en-US" sz="3600" dirty="0"/>
              <a:t>PROBLEM  STATEMENT</a:t>
            </a:r>
            <a:endParaRPr lang="en-IN" sz="36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675957" y="1918463"/>
            <a:ext cx="6492240" cy="4389120"/>
          </a:xfrm>
          <a:prstGeom prst="rect">
            <a:avLst/>
          </a:prstGeom>
          <a:noFill/>
        </p:spPr>
        <p:txBody>
          <a:bodyPr wrap="square">
            <a:spAutoFit/>
          </a:bodyPr>
          <a:lstStyle/>
          <a:p>
            <a:r>
              <a:rPr sz="1900" dirty="0"/>
              <a:t>The hospitality and short-term rental market generates large volumes of booking and listing data. Without systematic analysis, it is difficult to identify:</a:t>
            </a:r>
            <a:endParaRPr lang="en-IN" sz="1900" dirty="0"/>
          </a:p>
          <a:p>
            <a:endParaRPr lang="en-IN" sz="1900" dirty="0"/>
          </a:p>
          <a:p>
            <a:r>
              <a:rPr lang="en-IN" sz="1900" dirty="0"/>
              <a:t>• High-concentration neighbourhood groups</a:t>
            </a:r>
          </a:p>
          <a:p>
            <a:r>
              <a:rPr sz="1900" dirty="0"/>
              <a:t>• Room-type distribution and accommodation patterns</a:t>
            </a:r>
          </a:p>
          <a:p>
            <a:r>
              <a:rPr sz="1900" dirty="0"/>
              <a:t>• Pricing and service-fee patterns</a:t>
            </a:r>
          </a:p>
          <a:p>
            <a:r>
              <a:rPr sz="1900" dirty="0"/>
              <a:t>• Guest engagement through reviews</a:t>
            </a:r>
          </a:p>
          <a:p>
            <a:r>
              <a:rPr sz="1900" dirty="0"/>
              <a:t>• Property availability and booking-related trends</a:t>
            </a:r>
          </a:p>
          <a:p>
            <a:endParaRPr sz="1900" dirty="0"/>
          </a:p>
          <a:p>
            <a:r>
              <a:rPr sz="1900" dirty="0"/>
              <a:t>This project transforms raw Airbnb data into meaningful insights for data-driven decision making.</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7205307" cy="4905122"/>
          </a:xfrm>
        </p:spPr>
        <p:txBody>
          <a:bodyPr>
            <a:normAutofit/>
          </a:bodyPr>
          <a:lstStyle/>
          <a:p>
            <a:r>
              <a:rPr sz="3600" dirty="0"/>
              <a:t>Project Description</a:t>
            </a:r>
            <a:br>
              <a:rPr lang="en-IN" sz="2700" dirty="0"/>
            </a:br>
            <a:br>
              <a:rPr dirty="0"/>
            </a:br>
            <a:r>
              <a:rPr sz="1900" b="0" dirty="0"/>
              <a:t>This project performs Exploratory Data Analysis (EDA) on 102,599 Airbnb listings containing 26 attributes. The analysis examines </a:t>
            </a:r>
            <a:r>
              <a:rPr sz="1900" b="0" dirty="0" err="1"/>
              <a:t>neighbourhood</a:t>
            </a:r>
            <a:r>
              <a:rPr sz="1900" b="0" dirty="0"/>
              <a:t> groups, room types, prices, service fees, reviews, cancellation policies and availability. Data cleaning and visualization are used to identify market patterns and generate actionable insights.</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600" dirty="0"/>
              <a:t>WHO ARE THE END USERS?</a:t>
            </a:r>
            <a:endParaRPr lang="en-IN" sz="36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620008" y="1948385"/>
            <a:ext cx="7498079" cy="4389120"/>
          </a:xfrm>
          <a:prstGeom prst="rect">
            <a:avLst/>
          </a:prstGeom>
          <a:noFill/>
        </p:spPr>
        <p:txBody>
          <a:bodyPr wrap="square">
            <a:spAutoFit/>
          </a:bodyPr>
          <a:lstStyle/>
          <a:p>
            <a:r>
              <a:rPr sz="2000" dirty="0"/>
              <a:t>• Property Owners &amp; Hosts </a:t>
            </a:r>
            <a:r>
              <a:rPr lang="en-IN" sz="2000" dirty="0"/>
              <a:t>-</a:t>
            </a:r>
            <a:r>
              <a:rPr sz="2000" dirty="0"/>
              <a:t> understand competition, pricing and availability.</a:t>
            </a:r>
          </a:p>
          <a:p>
            <a:endParaRPr sz="2000" dirty="0"/>
          </a:p>
          <a:p>
            <a:r>
              <a:rPr sz="2000" dirty="0"/>
              <a:t>• Travelers &amp; Guests </a:t>
            </a:r>
            <a:r>
              <a:rPr lang="en-IN" sz="2000" dirty="0"/>
              <a:t>- </a:t>
            </a:r>
            <a:r>
              <a:rPr sz="2000" dirty="0"/>
              <a:t>compare room types and accommodation options.</a:t>
            </a:r>
          </a:p>
          <a:p>
            <a:endParaRPr sz="2000" dirty="0"/>
          </a:p>
          <a:p>
            <a:r>
              <a:rPr sz="2000" dirty="0"/>
              <a:t>• Airbnb / Hospitality Analysts </a:t>
            </a:r>
            <a:r>
              <a:rPr lang="en-IN" sz="2000" dirty="0"/>
              <a:t>-</a:t>
            </a:r>
            <a:r>
              <a:rPr sz="2000" dirty="0"/>
              <a:t> monitor demand, reviews and market distribution.</a:t>
            </a:r>
          </a:p>
          <a:p>
            <a:endParaRPr sz="2000" dirty="0"/>
          </a:p>
          <a:p>
            <a:r>
              <a:rPr sz="2000" dirty="0"/>
              <a:t>• Business Decision Makers </a:t>
            </a:r>
            <a:r>
              <a:rPr lang="en-IN" sz="2000" dirty="0"/>
              <a:t>-</a:t>
            </a:r>
            <a:r>
              <a:rPr sz="2000" dirty="0"/>
              <a:t> use insights for pricing and operational planning.</a:t>
            </a:r>
          </a:p>
          <a:p>
            <a:endParaRPr sz="2000" dirty="0"/>
          </a:p>
          <a:p>
            <a:r>
              <a:rPr sz="2000" dirty="0"/>
              <a:t>• Researchers &amp; Students </a:t>
            </a:r>
            <a:r>
              <a:rPr lang="en-IN" sz="2000" dirty="0"/>
              <a:t>-</a:t>
            </a:r>
            <a:r>
              <a:rPr sz="2000" dirty="0"/>
              <a:t> study real-world hospitality and booking data.</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914400" y="705180"/>
            <a:ext cx="5306291" cy="847817"/>
          </a:xfrm>
        </p:spPr>
        <p:txBody>
          <a:bodyPr>
            <a:normAutofit/>
          </a:bodyPr>
          <a:lstStyle/>
          <a:p>
            <a:r>
              <a:rPr lang="en-US" sz="3600" dirty="0"/>
              <a:t>Technology Used</a:t>
            </a:r>
          </a:p>
        </p:txBody>
      </p:sp>
      <p:sp>
        <p:nvSpPr>
          <p:cNvPr id="17" name="TextBox 16"/>
          <p:cNvSpPr txBox="1"/>
          <p:nvPr/>
        </p:nvSpPr>
        <p:spPr>
          <a:xfrm>
            <a:off x="914400" y="1552997"/>
            <a:ext cx="8537510" cy="2462213"/>
          </a:xfrm>
          <a:prstGeom prst="rect">
            <a:avLst/>
          </a:prstGeom>
          <a:noFill/>
        </p:spPr>
        <p:txBody>
          <a:bodyPr wrap="square">
            <a:spAutoFit/>
          </a:bodyPr>
          <a:lstStyle/>
          <a:p>
            <a:r>
              <a:rPr sz="2200" dirty="0"/>
              <a:t>Python</a:t>
            </a:r>
          </a:p>
          <a:p>
            <a:endParaRPr sz="2200" dirty="0"/>
          </a:p>
          <a:p>
            <a:r>
              <a:rPr sz="2200" dirty="0"/>
              <a:t>• Pandas </a:t>
            </a:r>
            <a:r>
              <a:rPr lang="en-IN" sz="2200" dirty="0"/>
              <a:t>-</a:t>
            </a:r>
            <a:r>
              <a:rPr sz="2200" dirty="0"/>
              <a:t> data loading, cleaning and analysis</a:t>
            </a:r>
          </a:p>
          <a:p>
            <a:r>
              <a:rPr sz="2200" dirty="0"/>
              <a:t>• NumPy </a:t>
            </a:r>
            <a:r>
              <a:rPr lang="en-IN" sz="2200" dirty="0"/>
              <a:t>-</a:t>
            </a:r>
            <a:r>
              <a:rPr sz="2200" dirty="0"/>
              <a:t> numerical operations</a:t>
            </a:r>
          </a:p>
          <a:p>
            <a:r>
              <a:rPr sz="2200" dirty="0"/>
              <a:t>• Matplotlib </a:t>
            </a:r>
            <a:r>
              <a:rPr lang="en-IN" sz="2200" dirty="0"/>
              <a:t>-</a:t>
            </a:r>
            <a:r>
              <a:rPr sz="2200" dirty="0"/>
              <a:t> data visualization</a:t>
            </a:r>
          </a:p>
          <a:p>
            <a:r>
              <a:rPr sz="2200" dirty="0"/>
              <a:t>• Microsoft Excel </a:t>
            </a:r>
            <a:r>
              <a:rPr lang="en-IN" sz="2200" dirty="0"/>
              <a:t>-</a:t>
            </a:r>
            <a:r>
              <a:rPr sz="2200" dirty="0"/>
              <a:t> dataset source and inspection</a:t>
            </a:r>
          </a:p>
          <a:p>
            <a:r>
              <a:rPr sz="2200" dirty="0"/>
              <a:t>• Jupyter Notebook / Python Environment </a:t>
            </a:r>
            <a:r>
              <a:rPr lang="en-IN" sz="2200" dirty="0"/>
              <a:t>-</a:t>
            </a:r>
            <a:r>
              <a:rPr sz="2200" dirty="0"/>
              <a:t> analysis workflow</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552"/>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50934" y="928901"/>
            <a:ext cx="6023423" cy="830997"/>
          </a:xfrm>
        </p:spPr>
        <p:txBody>
          <a:bodyPr>
            <a:noAutofit/>
          </a:bodyPr>
          <a:lstStyle/>
          <a:p>
            <a:r>
              <a:rPr sz="3600" b="1" dirty="0"/>
              <a:t>RESULTS &amp; KEY INSIGHTS</a:t>
            </a:r>
            <a:endParaRPr lang="en-IN" sz="36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81513" y="1938241"/>
            <a:ext cx="4275138" cy="477520"/>
          </a:xfrm>
        </p:spPr>
        <p:txBody>
          <a:bodyPr/>
          <a:lstStyle/>
          <a:p>
            <a:pPr marL="0" indent="0">
              <a:buNone/>
            </a:pPr>
            <a:r>
              <a:rPr sz="1600" b="0" dirty="0"/>
              <a:t>Data Visualizations</a:t>
            </a:r>
            <a:endParaRPr lang="en-IN" dirty="0"/>
          </a:p>
        </p:txBody>
      </p:sp>
      <p:pic>
        <p:nvPicPr>
          <p:cNvPr id="31" name="Picture 30" descr="groups.png"/>
          <p:cNvPicPr>
            <a:picLocks noChangeAspect="1"/>
          </p:cNvPicPr>
          <p:nvPr/>
        </p:nvPicPr>
        <p:blipFill>
          <a:blip r:embed="rId3"/>
          <a:stretch>
            <a:fillRect/>
          </a:stretch>
        </p:blipFill>
        <p:spPr>
          <a:xfrm>
            <a:off x="675957" y="2412552"/>
            <a:ext cx="3566160" cy="2468880"/>
          </a:xfrm>
          <a:prstGeom prst="rect">
            <a:avLst/>
          </a:prstGeom>
        </p:spPr>
      </p:pic>
      <p:pic>
        <p:nvPicPr>
          <p:cNvPr id="32" name="Picture 31" descr="rooms.png"/>
          <p:cNvPicPr>
            <a:picLocks noChangeAspect="1"/>
          </p:cNvPicPr>
          <p:nvPr/>
        </p:nvPicPr>
        <p:blipFill>
          <a:blip r:embed="rId4"/>
          <a:stretch>
            <a:fillRect/>
          </a:stretch>
        </p:blipFill>
        <p:spPr>
          <a:xfrm>
            <a:off x="4574294" y="2412552"/>
            <a:ext cx="3566160" cy="2468880"/>
          </a:xfrm>
          <a:prstGeom prst="rect">
            <a:avLst/>
          </a:prstGeom>
        </p:spPr>
      </p:pic>
      <p:sp>
        <p:nvSpPr>
          <p:cNvPr id="33" name="TextBox 32"/>
          <p:cNvSpPr txBox="1"/>
          <p:nvPr/>
        </p:nvSpPr>
        <p:spPr>
          <a:xfrm>
            <a:off x="550934" y="4965409"/>
            <a:ext cx="7589520" cy="1234440"/>
          </a:xfrm>
          <a:prstGeom prst="rect">
            <a:avLst/>
          </a:prstGeom>
          <a:noFill/>
        </p:spPr>
        <p:txBody>
          <a:bodyPr wrap="square">
            <a:spAutoFit/>
          </a:bodyPr>
          <a:lstStyle/>
          <a:p>
            <a:r>
              <a:rPr sz="1400" dirty="0"/>
              <a:t>102,599 listings analyzed | 7 </a:t>
            </a:r>
            <a:r>
              <a:rPr sz="1400" dirty="0" err="1"/>
              <a:t>neighbourhood</a:t>
            </a:r>
            <a:r>
              <a:rPr sz="1400" dirty="0"/>
              <a:t> groups | 224 </a:t>
            </a:r>
            <a:r>
              <a:rPr sz="1400" dirty="0" err="1"/>
              <a:t>neighbourhoods</a:t>
            </a:r>
            <a:endParaRPr sz="1400" dirty="0"/>
          </a:p>
          <a:p>
            <a:r>
              <a:rPr sz="1400" dirty="0"/>
              <a:t>Manhattan and Brooklyn have the highest listing concentration. Entire homes/apartments are the most common room type, followed by private rooms. Average price: $625.29 | Average availability: 141 days/year.</a:t>
            </a:r>
          </a:p>
        </p:txBody>
      </p:sp>
      <p:sp>
        <p:nvSpPr>
          <p:cNvPr id="2" name="TextBox 1">
            <a:extLst>
              <a:ext uri="{FF2B5EF4-FFF2-40B4-BE49-F238E27FC236}">
                <a16:creationId xmlns:a16="http://schemas.microsoft.com/office/drawing/2014/main" id="{BAC821AF-07DA-0027-3465-0A10AF68D432}"/>
              </a:ext>
            </a:extLst>
          </p:cNvPr>
          <p:cNvSpPr txBox="1"/>
          <p:nvPr/>
        </p:nvSpPr>
        <p:spPr>
          <a:xfrm>
            <a:off x="1017037" y="6102220"/>
            <a:ext cx="11174963" cy="369332"/>
          </a:xfrm>
          <a:prstGeom prst="rect">
            <a:avLst/>
          </a:prstGeom>
          <a:noFill/>
        </p:spPr>
        <p:txBody>
          <a:bodyPr wrap="square" rtlCol="0">
            <a:spAutoFit/>
          </a:bodyPr>
          <a:lstStyle/>
          <a:p>
            <a:r>
              <a:rPr lang="en-IN" dirty="0"/>
              <a:t>Demo Link: </a:t>
            </a:r>
            <a:r>
              <a:rPr lang="en-IN" sz="1600" dirty="0">
                <a:hlinkClick r:id="rId5"/>
              </a:rPr>
              <a:t>https://github.com/Pranav-3003/Assignment/tree/main/Project1</a:t>
            </a:r>
            <a:r>
              <a:rPr lang="en-IN" sz="1600" dirty="0"/>
              <a:t>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545370"/>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558</TotalTime>
  <Words>317</Words>
  <Application>Microsoft Office PowerPoint</Application>
  <PresentationFormat>Widescreen</PresentationFormat>
  <Paragraphs>40</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Airbnb Hotel Booking Analysis</vt:lpstr>
      <vt:lpstr>PROBLEM  STATEMENT</vt:lpstr>
      <vt:lpstr>Project Description  This project performs Exploratory Data Analysis (EDA) on 102,599 Airbnb listings containing 26 attributes. The analysis examines neighbourhood groups, room types, prices, service fees, reviews, cancellation policies and availability. Data cleaning and visualization are used to identify market patterns and generate actionable insights.</vt:lpstr>
      <vt:lpstr>WHO ARE THE END USERS?</vt:lpstr>
      <vt:lpstr>Technology Used</vt:lpstr>
      <vt:lpstr>RESULTS &amp; KEY 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Pranav Shelke</cp:lastModifiedBy>
  <cp:revision>77</cp:revision>
  <dcterms:created xsi:type="dcterms:W3CDTF">2021-07-11T13:13:15Z</dcterms:created>
  <dcterms:modified xsi:type="dcterms:W3CDTF">2026-08-23T13:18:01Z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